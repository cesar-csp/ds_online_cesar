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60" r:id="rId5"/>
    <p:sldId id="261" r:id="rId6"/>
    <p:sldId id="262" r:id="rId7"/>
    <p:sldId id="263" r:id="rId8"/>
    <p:sldId id="258" r:id="rId9"/>
    <p:sldId id="259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985CF-052F-F32B-04C0-08F821EF6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B6760D-BCDA-C330-BD07-6290BD5A10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7CA882-7918-EA21-5D8F-B04F561EB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0CC-9764-4E32-BAB2-A180F1FEE8E7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5919B0-BEAB-1A03-8D44-4E632C651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9B57F7-E196-BCAF-E9EB-8C664DA85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7E4AA-134E-4F47-AABB-6F9A12BD6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0458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E3B24-DB9E-8AA9-95BB-DA72E697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0A0B79-DEE6-5DD2-D2FC-8CD625B7A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9A7F51-6EF2-2B8B-CC4F-7C4788C3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0CC-9764-4E32-BAB2-A180F1FEE8E7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838427-F3B2-CF6D-BDE9-CAC0426F2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B64CB8-948A-D706-4E96-148947CAA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7E4AA-134E-4F47-AABB-6F9A12BD6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4184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0A4B9C-6D24-9CB3-36B5-55DABC785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AA0594-E158-48E9-C13B-F72C3AFEF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D464C4-4E27-BDEA-19D7-8B08E7E0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0CC-9764-4E32-BAB2-A180F1FEE8E7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067074-D83C-617E-01CD-134E26E1D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7F31B2-8E33-E507-0907-5B7F1296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7E4AA-134E-4F47-AABB-6F9A12BD6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2509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5B8FD-3BC2-2089-5542-A7DB02B71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F03A34-FB42-9DE9-9E28-38D9F5022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3DFCCF-C894-4345-A6BE-0E4D0D5BA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8B8386-917E-60B8-2D13-3083E86D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0CC-9764-4E32-BAB2-A180F1FEE8E7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A4651A-0612-DF6A-3516-EBBA2F4AF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668CA0-6F61-6C2A-080C-FA38BF23B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7E4AA-134E-4F47-AABB-6F9A12BD6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2424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E77C3-F48D-F87E-02F3-CDF609272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848AAA-BBF3-5223-84D0-2B4E1C003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9359F74-8962-26D0-52B9-E7EFF2578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AB4F7B-2A95-8227-B0FA-FAC8ABE31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5612FA5-EA49-C736-AAF3-B50390490B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60A3A8C-6CA0-9C0D-5B95-E1B00F8AD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0CC-9764-4E32-BAB2-A180F1FEE8E7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BC17DD8-DC5A-C60A-A16E-529884C67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4C9C9B-6B5A-8E4C-4E6E-10210ADD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7E4AA-134E-4F47-AABB-6F9A12BD6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1078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12EA4D-C883-BF01-757F-37A6B060E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E1F5B58-149B-3FF2-57D3-9C4C41022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0CC-9764-4E32-BAB2-A180F1FEE8E7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035D05D-C3E6-26E0-FEFC-0238E074C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141FEC2-8346-0B28-6E17-8EAB2D810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7E4AA-134E-4F47-AABB-6F9A12BD6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4418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D4A1015-1504-4367-759E-D8B4CC9D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0CC-9764-4E32-BAB2-A180F1FEE8E7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2E28BD9-2E4E-6CF3-91BD-E93772716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2C1C78-7492-5011-E5E4-5C3FD3BC4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7E4AA-134E-4F47-AABB-6F9A12BD6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183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6AA8A-400B-1578-827A-F35B9F8A6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0F8140-B846-4A77-8C03-5BDC05855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9CD6295-4C3E-B80E-014A-7843EEE78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8835FC-EA07-3B85-5B5B-A0F7940A9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0CC-9764-4E32-BAB2-A180F1FEE8E7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6B48E5-F757-4BBF-F427-46438A2EB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8D4BAB-10DE-4E2F-3E52-F8415ACD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7E4AA-134E-4F47-AABB-6F9A12BD6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5395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AD4A5-A814-3F01-33F4-A4CD58F76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53C7FB4-247F-AB51-3542-F4C9E7D48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EF9297-F500-5CCD-FC82-C826CBAEE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276702-B0FD-38FC-D580-66D1DDF5A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0CC-9764-4E32-BAB2-A180F1FEE8E7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669BE7-E8EB-100F-F522-446B44B82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E416D6-5E35-3849-8768-44A48C8D4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7E4AA-134E-4F47-AABB-6F9A12BD6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0456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292AD-69D2-2025-0A2F-17CB105DD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173D90-BBFC-AF08-4889-2F7917A2B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17547D-8F04-77E3-C96A-7A9EF4E8D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0CC-9764-4E32-BAB2-A180F1FEE8E7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9CC51B-4D3C-C0A9-9354-BD60F1CDE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0840CC-5A0C-733C-E2C3-A36180BF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7E4AA-134E-4F47-AABB-6F9A12BD6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5493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A3C4B8-E89C-CCE5-C823-7E89F892B3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01CC334-EFCA-7148-5D83-58F62311A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93CF15-BB6B-247C-EA8B-8C23F8408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0CC-9764-4E32-BAB2-A180F1FEE8E7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A9F88C-EE8B-2C99-CD5E-89533C90C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A27E48-C882-4006-52B1-4F476B4A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7E4AA-134E-4F47-AABB-6F9A12BD6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978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7B4E779-CAE3-0468-4E4A-27A3F1A7B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04710B-2DEA-AAD0-1847-F46C760F4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A4229E-6F94-1EE0-DBB8-F51F0ABA8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7B0CC-9764-4E32-BAB2-A180F1FEE8E7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092D21-19B8-84B5-931F-2DF0578E9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67689D-AFBB-F949-6637-4BCDE9991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7E4AA-134E-4F47-AABB-6F9A12BD6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4852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FB02F5FF-8CBE-F99D-CF2A-A8E6BC593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70" y="0"/>
            <a:ext cx="9222659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CF0C7F5-28FB-FD87-D47D-174938CA9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72" y="196645"/>
            <a:ext cx="9144000" cy="1474686"/>
          </a:xfrm>
        </p:spPr>
        <p:txBody>
          <a:bodyPr/>
          <a:lstStyle/>
          <a:p>
            <a:r>
              <a:rPr lang="es-ES" dirty="0" err="1">
                <a:solidFill>
                  <a:schemeClr val="bg1"/>
                </a:solidFill>
              </a:rPr>
              <a:t>Titanic</a:t>
            </a:r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092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760C763-1396-C1C5-38B9-3AE31781B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0"/>
            <a:ext cx="10515600" cy="687987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7B40FB7-C2C6-0B11-D012-1E871C9FC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u="sng" dirty="0">
                <a:solidFill>
                  <a:schemeClr val="bg1"/>
                </a:solidFill>
              </a:rPr>
              <a:t>Conclusiones del </a:t>
            </a:r>
            <a:r>
              <a:rPr lang="es-ES" b="1" u="sng" dirty="0" err="1">
                <a:solidFill>
                  <a:schemeClr val="bg1"/>
                </a:solidFill>
              </a:rPr>
              <a:t>Titanic</a:t>
            </a:r>
            <a:endParaRPr lang="es-ES" b="1" u="sng" dirty="0">
              <a:solidFill>
                <a:schemeClr val="bg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45A11E-0C02-5271-B5F3-27C21831C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El </a:t>
            </a:r>
            <a:r>
              <a:rPr lang="es-ES" dirty="0" err="1">
                <a:solidFill>
                  <a:schemeClr val="bg1"/>
                </a:solidFill>
              </a:rPr>
              <a:t>Titanic</a:t>
            </a:r>
            <a:r>
              <a:rPr lang="es-ES" dirty="0">
                <a:solidFill>
                  <a:schemeClr val="bg1"/>
                </a:solidFill>
              </a:rPr>
              <a:t> tuvo una alta tasa de mortalidad.</a:t>
            </a:r>
          </a:p>
          <a:p>
            <a:r>
              <a:rPr lang="es-ES" dirty="0">
                <a:solidFill>
                  <a:schemeClr val="bg1"/>
                </a:solidFill>
              </a:rPr>
              <a:t>En el </a:t>
            </a:r>
            <a:r>
              <a:rPr lang="es-ES" dirty="0" err="1">
                <a:solidFill>
                  <a:schemeClr val="bg1"/>
                </a:solidFill>
              </a:rPr>
              <a:t>Titanic</a:t>
            </a:r>
            <a:r>
              <a:rPr lang="es-ES" dirty="0">
                <a:solidFill>
                  <a:schemeClr val="bg1"/>
                </a:solidFill>
              </a:rPr>
              <a:t> mujeres y niños tuvieron una mayor tasa de supervivencia que los hombres.</a:t>
            </a:r>
          </a:p>
          <a:p>
            <a:r>
              <a:rPr lang="es-ES" dirty="0">
                <a:solidFill>
                  <a:schemeClr val="bg1"/>
                </a:solidFill>
              </a:rPr>
              <a:t>En el </a:t>
            </a:r>
            <a:r>
              <a:rPr lang="es-ES" dirty="0" err="1">
                <a:solidFill>
                  <a:schemeClr val="bg1"/>
                </a:solidFill>
              </a:rPr>
              <a:t>Titanic</a:t>
            </a:r>
            <a:r>
              <a:rPr lang="es-ES" dirty="0">
                <a:solidFill>
                  <a:schemeClr val="bg1"/>
                </a:solidFill>
              </a:rPr>
              <a:t> la clase social influencia significativa en la supervivencia.</a:t>
            </a:r>
          </a:p>
          <a:p>
            <a:r>
              <a:rPr lang="es-ES" dirty="0">
                <a:solidFill>
                  <a:schemeClr val="bg1"/>
                </a:solidFill>
              </a:rPr>
              <a:t>En el </a:t>
            </a:r>
            <a:r>
              <a:rPr lang="es-ES" dirty="0" err="1">
                <a:solidFill>
                  <a:schemeClr val="bg1"/>
                </a:solidFill>
              </a:rPr>
              <a:t>Titanic</a:t>
            </a:r>
            <a:r>
              <a:rPr lang="es-ES" dirty="0">
                <a:solidFill>
                  <a:schemeClr val="bg1"/>
                </a:solidFill>
              </a:rPr>
              <a:t> no tenia una influencia significativa el puerto de embarque pero si la </a:t>
            </a:r>
            <a:r>
              <a:rPr lang="es-ES" dirty="0"/>
              <a:t>clase social.</a:t>
            </a:r>
          </a:p>
        </p:txBody>
      </p:sp>
    </p:spTree>
    <p:extLst>
      <p:ext uri="{BB962C8B-B14F-4D97-AF65-F5344CB8AC3E}">
        <p14:creationId xmlns:p14="http://schemas.microsoft.com/office/powerpoint/2010/main" val="2160428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Marcador de contenido 14">
            <a:extLst>
              <a:ext uri="{FF2B5EF4-FFF2-40B4-BE49-F238E27FC236}">
                <a16:creationId xmlns:a16="http://schemas.microsoft.com/office/drawing/2014/main" id="{77CED245-D2BE-8B06-03C7-A990B0E9DC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816" y="1048988"/>
            <a:ext cx="6586628" cy="5809012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631BB6C-B525-B39C-C6A2-AEDDE740C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173" y="0"/>
            <a:ext cx="10515600" cy="1325563"/>
          </a:xfrm>
        </p:spPr>
        <p:txBody>
          <a:bodyPr/>
          <a:lstStyle/>
          <a:p>
            <a:r>
              <a:rPr lang="es-ES" b="1" u="sng" dirty="0"/>
              <a:t>Tasa de mortalidad en el </a:t>
            </a:r>
            <a:r>
              <a:rPr lang="es-ES" b="1" u="sng" dirty="0" err="1"/>
              <a:t>Titanic</a:t>
            </a:r>
            <a:endParaRPr lang="es-ES" b="1" u="sng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855DD7B-784F-55C4-5905-4776EA7CE5FD}"/>
              </a:ext>
            </a:extLst>
          </p:cNvPr>
          <p:cNvSpPr/>
          <p:nvPr/>
        </p:nvSpPr>
        <p:spPr>
          <a:xfrm>
            <a:off x="540773" y="1907460"/>
            <a:ext cx="3323304" cy="1325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i="1" u="sng" dirty="0"/>
              <a:t>ALTA</a:t>
            </a:r>
            <a:r>
              <a:rPr lang="es-ES" dirty="0"/>
              <a:t>, la tasa de mortalidad en el </a:t>
            </a:r>
            <a:r>
              <a:rPr lang="es-ES" dirty="0" err="1"/>
              <a:t>Titanic</a:t>
            </a:r>
            <a:r>
              <a:rPr lang="es-ES" dirty="0"/>
              <a:t> fue alta como se observa en el grafico</a:t>
            </a:r>
          </a:p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21265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Marcador de contenido 15" descr="Gráfico, Gráfico de barras">
            <a:extLst>
              <a:ext uri="{FF2B5EF4-FFF2-40B4-BE49-F238E27FC236}">
                <a16:creationId xmlns:a16="http://schemas.microsoft.com/office/drawing/2014/main" id="{E7B8E104-64A3-E7C3-08AA-0B7A8309F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1291" y="1272713"/>
            <a:ext cx="8164604" cy="558528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6DA868C-1B06-9F73-6187-AB461ED0F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u="sng" dirty="0"/>
              <a:t>¿Mayor supervivencia de mujeres y niños?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2B8FD97-EB42-2F71-2557-7577F28175D8}"/>
              </a:ext>
            </a:extLst>
          </p:cNvPr>
          <p:cNvSpPr/>
          <p:nvPr/>
        </p:nvSpPr>
        <p:spPr>
          <a:xfrm>
            <a:off x="432620" y="1848465"/>
            <a:ext cx="3008671" cy="389357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/>
              <a:t>Si en términos relativos en porcentaje de supervivientes de </a:t>
            </a:r>
            <a:r>
              <a:rPr lang="es-ES" b="1" i="1" u="sng" dirty="0"/>
              <a:t>mujeres y niños es muy superior al de los hombres.</a:t>
            </a:r>
          </a:p>
          <a:p>
            <a:endParaRPr lang="es-ES" dirty="0"/>
          </a:p>
          <a:p>
            <a:r>
              <a:rPr lang="es-ES" dirty="0"/>
              <a:t>Orden de Supervivencia:</a:t>
            </a:r>
          </a:p>
          <a:p>
            <a:endParaRPr lang="es-ES" dirty="0"/>
          </a:p>
          <a:p>
            <a:r>
              <a:rPr lang="es-ES" b="1" i="1" dirty="0"/>
              <a:t>1) Mujeres (76%)</a:t>
            </a:r>
          </a:p>
          <a:p>
            <a:r>
              <a:rPr lang="es-ES" b="1" i="1" dirty="0"/>
              <a:t>2) Niños (59%)</a:t>
            </a:r>
          </a:p>
          <a:p>
            <a:r>
              <a:rPr lang="es-ES" b="1" i="1" dirty="0"/>
              <a:t>3) Hombres (16%)</a:t>
            </a:r>
          </a:p>
          <a:p>
            <a:pPr marL="342900" indent="-342900" algn="ctr">
              <a:buAutoNum type="arabicParenR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43383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AC74D8C8-4FEC-F62B-1419-218D24085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887" y="3478499"/>
            <a:ext cx="4980630" cy="3379501"/>
          </a:xfrm>
          <a:prstGeom prst="rect">
            <a:avLst/>
          </a:prstGeom>
        </p:spPr>
      </p:pic>
      <p:pic>
        <p:nvPicPr>
          <p:cNvPr id="24" name="Imagen 23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7D99FE59-2B96-55F6-2121-A0A997EA7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887" y="19640"/>
            <a:ext cx="4980630" cy="3409360"/>
          </a:xfrm>
          <a:prstGeom prst="rect">
            <a:avLst/>
          </a:prstGeom>
        </p:spPr>
      </p:pic>
      <p:pic>
        <p:nvPicPr>
          <p:cNvPr id="22" name="Marcador de contenido 21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A61DBA0C-6FB6-DDD0-0605-F935B44920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49856" y="1668779"/>
            <a:ext cx="5221679" cy="352044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4861C9B-9A04-A32E-93E9-F50D33F61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7" y="158647"/>
            <a:ext cx="7588046" cy="991727"/>
          </a:xfrm>
        </p:spPr>
        <p:txBody>
          <a:bodyPr>
            <a:normAutofit fontScale="90000"/>
          </a:bodyPr>
          <a:lstStyle/>
          <a:p>
            <a:r>
              <a:rPr lang="es-ES" b="1" u="sng" dirty="0"/>
              <a:t>¿La clase en la que viajase tenia influencia significativa?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6AB50FF-7965-73FF-025B-8B9A186BFD40}"/>
              </a:ext>
            </a:extLst>
          </p:cNvPr>
          <p:cNvSpPr/>
          <p:nvPr/>
        </p:nvSpPr>
        <p:spPr>
          <a:xfrm>
            <a:off x="2525685" y="1291932"/>
            <a:ext cx="1602658" cy="2851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2"/>
                </a:solidFill>
              </a:rPr>
              <a:t>Primera clase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84EC407-35D6-7BFB-C510-75F76BBA307E}"/>
              </a:ext>
            </a:extLst>
          </p:cNvPr>
          <p:cNvSpPr/>
          <p:nvPr/>
        </p:nvSpPr>
        <p:spPr>
          <a:xfrm rot="16200000">
            <a:off x="5713980" y="4924917"/>
            <a:ext cx="1464615" cy="3072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600" dirty="0"/>
              <a:t>Tercera clase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245FEFE-ED80-A840-52A1-9A3D95900BB8}"/>
              </a:ext>
            </a:extLst>
          </p:cNvPr>
          <p:cNvSpPr/>
          <p:nvPr/>
        </p:nvSpPr>
        <p:spPr>
          <a:xfrm rot="16200000">
            <a:off x="5786381" y="1668709"/>
            <a:ext cx="1378803" cy="3072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600" dirty="0"/>
              <a:t>Segunda clase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F176781-7F48-5CBC-857B-FD24B718777C}"/>
              </a:ext>
            </a:extLst>
          </p:cNvPr>
          <p:cNvSpPr/>
          <p:nvPr/>
        </p:nvSpPr>
        <p:spPr>
          <a:xfrm>
            <a:off x="1130710" y="5372644"/>
            <a:ext cx="5063613" cy="111664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Aquí se puede observar que la clase influenciaba significativamente en la </a:t>
            </a:r>
            <a:r>
              <a:rPr lang="es-ES" dirty="0" err="1"/>
              <a:t>superviviencia</a:t>
            </a:r>
            <a:r>
              <a:rPr lang="es-ES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3500677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49926-7789-2A0D-F770-B0B0DA156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u="sng" dirty="0"/>
              <a:t>¿El puerto de embarque tenia influencia en la supervivencia?</a:t>
            </a:r>
          </a:p>
        </p:txBody>
      </p:sp>
      <p:pic>
        <p:nvPicPr>
          <p:cNvPr id="5" name="Marcador de contenido 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29B03A70-C1E2-EB5A-F2C0-17D2ED963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4017" y="1884618"/>
            <a:ext cx="5995655" cy="435133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FEEF612-9CE0-BF81-CC3B-AEB6298B96E4}"/>
              </a:ext>
            </a:extLst>
          </p:cNvPr>
          <p:cNvSpPr/>
          <p:nvPr/>
        </p:nvSpPr>
        <p:spPr>
          <a:xfrm>
            <a:off x="619432" y="2133600"/>
            <a:ext cx="3588774" cy="35986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Viendo este grafico nos puede inducir a que tiene influencia, pero hay que realizar un estudio de las clases que embarcaron en cada puerto</a:t>
            </a:r>
          </a:p>
        </p:txBody>
      </p:sp>
    </p:spTree>
    <p:extLst>
      <p:ext uri="{BB962C8B-B14F-4D97-AF65-F5344CB8AC3E}">
        <p14:creationId xmlns:p14="http://schemas.microsoft.com/office/powerpoint/2010/main" val="4288509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30124D-6398-6A1F-D0B6-9835B8BE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u="sng" dirty="0"/>
              <a:t>¿La influencia realmente esta en la clase social?</a:t>
            </a:r>
          </a:p>
        </p:txBody>
      </p:sp>
      <p:pic>
        <p:nvPicPr>
          <p:cNvPr id="5" name="Marcador de contenido 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848C4258-DEB9-3B46-8E4B-6520A3227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8047" y="1923947"/>
            <a:ext cx="6017196" cy="435133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82E4400-60A0-597F-8531-15671641BF96}"/>
              </a:ext>
            </a:extLst>
          </p:cNvPr>
          <p:cNvSpPr/>
          <p:nvPr/>
        </p:nvSpPr>
        <p:spPr>
          <a:xfrm>
            <a:off x="934065" y="1995948"/>
            <a:ext cx="3313470" cy="418854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Como se puede observar en el grafico realmente el puerto de embarque no tiene una influencia significativa la que si que lo tiene es la </a:t>
            </a:r>
            <a:r>
              <a:rPr lang="es-ES" b="1" i="1" u="sng" dirty="0"/>
              <a:t>clase social</a:t>
            </a:r>
            <a:r>
              <a:rPr lang="es-ES" u="sng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6719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63510-BC7F-E3C9-5919-F89CF214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A26767-AD87-973F-65F2-9CB9CF5DF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Objetivo:Informar</a:t>
            </a:r>
            <a:r>
              <a:rPr lang="es-ES" dirty="0"/>
              <a:t>, el </a:t>
            </a:r>
            <a:r>
              <a:rPr lang="es-ES" dirty="0" err="1"/>
              <a:t>publico:informar</a:t>
            </a:r>
            <a:r>
              <a:rPr lang="es-ES" dirty="0"/>
              <a:t>, estilo: al grano</a:t>
            </a:r>
          </a:p>
          <a:p>
            <a:endParaRPr lang="es-ES" dirty="0"/>
          </a:p>
          <a:p>
            <a:r>
              <a:rPr lang="es-ES" dirty="0"/>
              <a:t>Los mensajes conclusiones principales empiezo con ellos y cabo con ellos, de mayor importancia a menor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Arriba a la izquierda lo que quiera destacar</a:t>
            </a:r>
          </a:p>
        </p:txBody>
      </p:sp>
    </p:spTree>
    <p:extLst>
      <p:ext uri="{BB962C8B-B14F-4D97-AF65-F5344CB8AC3E}">
        <p14:creationId xmlns:p14="http://schemas.microsoft.com/office/powerpoint/2010/main" val="511217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AD516F-7D74-3488-C39C-7D710776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91835F-1388-2FC5-FF51-1E69FC67F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Presentar datos</a:t>
            </a:r>
          </a:p>
          <a:p>
            <a:endParaRPr lang="es-ES" dirty="0"/>
          </a:p>
          <a:p>
            <a:r>
              <a:rPr lang="es-ES" dirty="0"/>
              <a:t>Lo importante es el mensaje no el dato aunque cuando lo muestre debe  insuflar aire al mensaje.</a:t>
            </a:r>
          </a:p>
          <a:p>
            <a:r>
              <a:rPr lang="es-ES" dirty="0"/>
              <a:t>Claro legible, entendible</a:t>
            </a:r>
          </a:p>
          <a:p>
            <a:r>
              <a:rPr lang="es-ES" dirty="0"/>
              <a:t>El mensaje sea el titulo</a:t>
            </a:r>
          </a:p>
        </p:txBody>
      </p:sp>
    </p:spTree>
    <p:extLst>
      <p:ext uri="{BB962C8B-B14F-4D97-AF65-F5344CB8AC3E}">
        <p14:creationId xmlns:p14="http://schemas.microsoft.com/office/powerpoint/2010/main" val="34742015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</TotalTime>
  <Words>303</Words>
  <Application>Microsoft Office PowerPoint</Application>
  <PresentationFormat>Panorámica</PresentationFormat>
  <Paragraphs>36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Titanic</vt:lpstr>
      <vt:lpstr>Conclusiones del Titanic</vt:lpstr>
      <vt:lpstr>Tasa de mortalidad en el Titanic</vt:lpstr>
      <vt:lpstr>¿Mayor supervivencia de mujeres y niños?</vt:lpstr>
      <vt:lpstr>¿La clase en la que viajase tenia influencia significativa?</vt:lpstr>
      <vt:lpstr>¿El puerto de embarque tenia influencia en la supervivencia?</vt:lpstr>
      <vt:lpstr>¿La influencia realmente esta en la clase social?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 Sanchez</dc:creator>
  <cp:lastModifiedBy>Cesar Sanchez</cp:lastModifiedBy>
  <cp:revision>6</cp:revision>
  <dcterms:created xsi:type="dcterms:W3CDTF">2025-12-08T18:40:19Z</dcterms:created>
  <dcterms:modified xsi:type="dcterms:W3CDTF">2025-12-09T16:36:47Z</dcterms:modified>
</cp:coreProperties>
</file>